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B0A6"/>
                </a:solidFill>
                <a:latin typeface="Consolas"/>
              </a:rPr>
              <a:t>CONCORSO ESPERTO/ASSISTENTE ICT — BANCA D'ITALIA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2F5F3"/>
                </a:solidFill>
                <a:latin typeface="Segoe UI Semibold"/>
              </a:rPr>
              <a:t>Ripasso rapido: 25 temi svolti, Profilo A e Profilo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961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7D3CD"/>
                </a:solidFill>
                <a:latin typeface="Segoe UI"/>
              </a:rPr>
              <a:t>Sintesi delle risposte-modello (metodo PEEL) per il ripasso a colpo d'occhio: impostazione, sviluppo tecnico per punti (a)–(d), esempio nel contesto Banca d'Italia, rischi residui.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74920"/>
            <a:ext cx="27889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50">
                <a:solidFill>
                  <a:srgbClr val="A9BBB3"/>
                </a:solidFill>
                <a:latin typeface="Consolas"/>
              </a:rPr>
              <a:t>Soluzione_Simulazione_Esame.md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5074920"/>
            <a:ext cx="271119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50">
                <a:solidFill>
                  <a:srgbClr val="A9BBB3"/>
                </a:solidFill>
                <a:latin typeface="Consolas"/>
              </a:rPr>
              <a:t>Svolgimenti_Temi_Profilo_A.md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8836" y="5074920"/>
            <a:ext cx="271119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50">
                <a:solidFill>
                  <a:srgbClr val="A9BBB3"/>
                </a:solidFill>
                <a:latin typeface="Consolas"/>
              </a:rPr>
              <a:t>Svolgimenti_Temi_Profilo_C.md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61D1A"/>
                </a:solidFill>
                <a:latin typeface="Segoe UI Semibold"/>
              </a:rP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C5751"/>
                </a:solidFill>
                <a:latin typeface="Segoe UI"/>
              </a:rPr>
              <a:t>23 slide in questo pacchetto · stessa struttura della versione web interattiva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C4A6B"/>
                </a:solidFill>
                <a:latin typeface="Consolas"/>
              </a:rPr>
              <a:t>SIMULAZIONE D'ESAME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Sistema AI per la Vigilanza — cloud, sicurezza AI, resilienza 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7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6E5F"/>
                </a:solidFill>
                <a:latin typeface="Consolas"/>
              </a:rPr>
              <a:t>PROFILO A · AMBITO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44367"/>
            <a:ext cx="3520440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1.1 Pagamenti alta disponibilità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1.2 Dati vigilanza: relazionale vs NoSQL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1.3 Cloud-native e sicurezza applicativa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6E5F"/>
                </a:solidFill>
                <a:latin typeface="Consolas"/>
              </a:rPr>
              <a:t>PROFILO A · AMBITO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520440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2.1 Migrazione post-quantum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2.2 DLT e Privacy-Enhancing Tech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2.3 Autenticazione forte e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6E5F"/>
                </a:solidFill>
                <a:latin typeface="Consolas"/>
              </a:rPr>
              <a:t>PROFILO A · AMBITO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3520440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3.1 Fraud detection/AML e AI Act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3.2 LLM e RAG istituzionale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3.3 Sistema multiagente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163824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601A"/>
                </a:solidFill>
                <a:latin typeface="Consolas"/>
              </a:rPr>
              <a:t>PROFILO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529584"/>
            <a:ext cx="3520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1.1 Algoritmi e strutture dati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1.2 Secure SDLC e OWASP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2.1 Progettazione di una base dati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2.2 ML per la classificazione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3.1 Rete sicura e resiliente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>
                <a:solidFill>
                  <a:srgbClr val="4C5751"/>
                </a:solidFill>
                <a:latin typeface="Segoe UI"/>
              </a:rPr>
              <a:t>•  </a:t>
            </a:r>
            <a:r>
              <a:rPr sz="1150">
                <a:solidFill>
                  <a:srgbClr val="161D1A"/>
                </a:solidFill>
                <a:latin typeface="Segoe UI"/>
              </a:rPr>
              <a:t>3.2 Crittografia e cenni DLT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920240" cy="384048"/>
          </a:xfrm>
          <a:prstGeom prst="roundRect">
            <a:avLst>
              <a:gd name="adj" fmla="val 35000"/>
            </a:avLst>
          </a:prstGeom>
          <a:solidFill>
            <a:srgbClr val="E6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3C4A6B"/>
                </a:solidFill>
                <a:latin typeface="Consolas"/>
              </a:rPr>
              <a:t>SIMULAZIONE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D1A"/>
                </a:solidFill>
                <a:latin typeface="Segoe UI Semibold"/>
              </a:rPr>
              <a:t>Sistema AI per la Vigilanza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C5751"/>
                </a:solidFill>
                <a:latin typeface="Segoe UI"/>
              </a:rPr>
              <a:t>Architettura che bilancia IA generativa con data sovereignty, security by design e resilienza operativa di una banca centrale.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6393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404872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C4A6B"/>
                </a:solidFill>
                <a:latin typeface="Segoe UI Semibold"/>
              </a:rPr>
              <a:t>1 · Cloud, sovranità, anti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926080"/>
            <a:ext cx="3273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Hybrid cloud</a:t>
            </a:r>
            <a:r>
              <a:rPr sz="1100">
                <a:solidFill>
                  <a:srgbClr val="161D1A"/>
                </a:solidFill>
                <a:latin typeface="Segoe UI"/>
              </a:rPr>
              <a:t>: dati core ACID on-premise, calcolo LLM su cloud pubblico IaaS/PaaS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BYOK</a:t>
            </a:r>
            <a:r>
              <a:rPr sz="1100">
                <a:solidFill>
                  <a:srgbClr val="161D1A"/>
                </a:solidFill>
                <a:latin typeface="Segoe UI"/>
              </a:rPr>
              <a:t>: chiavi negli HSM on-premise, il provider non accede mai ai dati in chiaro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Cloud-native + IaC</a:t>
            </a:r>
            <a:r>
              <a:rPr sz="1100">
                <a:solidFill>
                  <a:srgbClr val="161D1A"/>
                </a:solidFill>
                <a:latin typeface="Segoe UI"/>
              </a:rPr>
              <a:t>: container OCI/Kubernetes + Terraform → exit strategy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240280"/>
            <a:ext cx="36393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04872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C4A6B"/>
                </a:solidFill>
                <a:latin typeface="Segoe UI Semibold"/>
              </a:rPr>
              <a:t>2 · Architettura AI: no allucinazioni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26080"/>
            <a:ext cx="3273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RAG</a:t>
            </a:r>
            <a:r>
              <a:rPr sz="1100">
                <a:solidFill>
                  <a:srgbClr val="161D1A"/>
                </a:solidFill>
                <a:latin typeface="Segoe UI"/>
              </a:rPr>
              <a:t> su DB vettoriale interno; risposte con citazione delle fonti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AI Security Gateway</a:t>
            </a:r>
            <a:r>
              <a:rPr sz="1100">
                <a:solidFill>
                  <a:srgbClr val="161D1A"/>
                </a:solidFill>
                <a:latin typeface="Segoe UI"/>
              </a:rPr>
              <a:t>: input sanitization anti prompt-injection + data masking/DLP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Human-in-the-loop</a:t>
            </a:r>
            <a:r>
              <a:rPr sz="1100">
                <a:solidFill>
                  <a:srgbClr val="161D1A"/>
                </a:solidFill>
                <a:latin typeface="Segoe UI"/>
              </a:rPr>
              <a:t>: IA "augmented", decisione sempre umana (AI Act)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2240280"/>
            <a:ext cx="363931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404872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C4A6B"/>
                </a:solidFill>
                <a:latin typeface="Segoe UI Semibold"/>
              </a:rPr>
              <a:t>3 · Resilienza operativa e DORA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926080"/>
            <a:ext cx="3273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Multi-AZ active-active</a:t>
            </a:r>
            <a:r>
              <a:rPr sz="1100">
                <a:solidFill>
                  <a:srgbClr val="161D1A"/>
                </a:solidFill>
                <a:latin typeface="Segoe UI"/>
              </a:rPr>
              <a:t> + replica asincrona geograficamente distante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Microsegmentazione Zero Trust (ZTNA)</a:t>
            </a:r>
            <a:r>
              <a:rPr sz="1100">
                <a:solidFill>
                  <a:srgbClr val="161D1A"/>
                </a:solidFill>
                <a:latin typeface="Segoe UI"/>
              </a:rPr>
              <a:t> tra IA, DB vettoriale e interfacce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>
                <a:solidFill>
                  <a:srgbClr val="4C5751"/>
                </a:solidFill>
                <a:latin typeface="Segoe UI"/>
              </a:rPr>
              <a:t>•  </a:t>
            </a:r>
            <a:r>
              <a:rPr b="1" sz="1100">
                <a:solidFill>
                  <a:srgbClr val="161D1A"/>
                </a:solidFill>
                <a:latin typeface="Segoe UI"/>
              </a:rPr>
              <a:t>SOC/SIEM H24</a:t>
            </a:r>
            <a:r>
              <a:rPr sz="1100">
                <a:solidFill>
                  <a:srgbClr val="161D1A"/>
                </a:solidFill>
                <a:latin typeface="Segoe UI"/>
              </a:rPr>
              <a:t> + test di resilienza continui (TLPT, TIBER-EU)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B0A6"/>
                </a:solidFill>
                <a:latin typeface="Consolas"/>
              </a:rPr>
              <a:t>PROFILO A — AMBITO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5F3"/>
                </a:solidFill>
                <a:latin typeface="Segoe UI Semibold"/>
              </a:rPr>
              <a:t>Computazione, software, 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1929384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1.1 Pagamenti 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5496" y="3977639"/>
            <a:ext cx="2130552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1.2 Dati vigilanza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977639"/>
            <a:ext cx="1929384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1.3 Cloud-native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1 — COMPUTAZIONE, SOFTWARE,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Architettura di un sistema di pagamento ad alta disponibilità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Sistema RTGS “systemic”: la **consistenza forte** prevale sulla disponibilità eventuale — un pagamento regolato è definitivo e irrevocabile.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Architettura applicativa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Microservizi </a:t>
            </a:r>
            <a:r>
              <a:rPr b="1" sz="1050">
                <a:solidFill>
                  <a:srgbClr val="161D1A"/>
                </a:solidFill>
                <a:latin typeface="Segoe UI"/>
              </a:rPr>
              <a:t>event-driven</a:t>
            </a:r>
            <a:r>
              <a:rPr sz="1050">
                <a:solidFill>
                  <a:srgbClr val="161D1A"/>
                </a:solidFill>
                <a:latin typeface="Segoe UI"/>
              </a:rPr>
              <a:t>, gateway </a:t>
            </a:r>
            <a:r>
              <a:rPr b="1" sz="1050">
                <a:solidFill>
                  <a:srgbClr val="161D1A"/>
                </a:solidFill>
                <a:latin typeface="Segoe UI"/>
              </a:rPr>
              <a:t>ISO 20022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Event backbone (Kafka), messaggi idempotenti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Ledger ACID</a:t>
            </a:r>
            <a:r>
              <a:rPr sz="1050">
                <a:solidFill>
                  <a:srgbClr val="161D1A"/>
                </a:solidFill>
                <a:latin typeface="Segoe UI"/>
              </a:rPr>
              <a:t> centrale come unica fonte di verità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Pattern: </a:t>
            </a:r>
            <a:r>
              <a:rPr b="1" sz="1050">
                <a:solidFill>
                  <a:srgbClr val="161D1A"/>
                </a:solidFill>
                <a:latin typeface="Segoe UI"/>
              </a:rPr>
              <a:t>CQRS</a:t>
            </a:r>
            <a:r>
              <a:rPr sz="1050">
                <a:solidFill>
                  <a:srgbClr val="161D1A"/>
                </a:solidFill>
                <a:latin typeface="Segoe UI"/>
              </a:rPr>
              <a:t>, </a:t>
            </a:r>
            <a:r>
              <a:rPr b="1" sz="1050">
                <a:solidFill>
                  <a:srgbClr val="161D1A"/>
                </a:solidFill>
                <a:latin typeface="Segoe UI"/>
              </a:rPr>
              <a:t>Saga</a:t>
            </a:r>
            <a:r>
              <a:rPr sz="1050">
                <a:solidFill>
                  <a:srgbClr val="161D1A"/>
                </a:solidFill>
                <a:latin typeface="Segoe UI"/>
              </a:rPr>
              <a:t>, outbox transazionale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Consistenza distribuita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Teorema </a:t>
            </a:r>
            <a:r>
              <a:rPr b="1" sz="1050">
                <a:solidFill>
                  <a:srgbClr val="161D1A"/>
                </a:solidFill>
                <a:latin typeface="Segoe UI"/>
              </a:rPr>
              <a:t>CAP</a:t>
            </a:r>
            <a:r>
              <a:rPr sz="1050">
                <a:solidFill>
                  <a:srgbClr val="161D1A"/>
                </a:solidFill>
                <a:latin typeface="Segoe UI"/>
              </a:rPr>
              <a:t> → scelta </a:t>
            </a:r>
            <a:r>
              <a:rPr b="1" sz="1050">
                <a:solidFill>
                  <a:srgbClr val="161D1A"/>
                </a:solidFill>
                <a:latin typeface="Segoe UI"/>
              </a:rPr>
              <a:t>CP</a:t>
            </a:r>
            <a:r>
              <a:rPr sz="1050">
                <a:solidFill>
                  <a:srgbClr val="161D1A"/>
                </a:solidFill>
                <a:latin typeface="Segoe UI"/>
              </a:rPr>
              <a:t> per il ledger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ACID</a:t>
            </a:r>
            <a:r>
              <a:rPr sz="1050">
                <a:solidFill>
                  <a:srgbClr val="161D1A"/>
                </a:solidFill>
                <a:latin typeface="Segoe UI"/>
              </a:rPr>
              <a:t> non negoziabile per la finalità giuridica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BASE</a:t>
            </a:r>
            <a:r>
              <a:rPr sz="1050">
                <a:solidFill>
                  <a:srgbClr val="161D1A"/>
                </a:solidFill>
                <a:latin typeface="Segoe UI"/>
              </a:rPr>
              <a:t> accettabile solo su reportistica/repliche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Alta disponibilità / 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Multi-region + terzo sito di salvaguardia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Ledger: </a:t>
            </a:r>
            <a:r>
              <a:rPr b="1" sz="1050">
                <a:solidFill>
                  <a:srgbClr val="161D1A"/>
                </a:solidFill>
                <a:latin typeface="Segoe UI"/>
              </a:rPr>
              <a:t>active-passive</a:t>
            </a:r>
            <a:r>
              <a:rPr sz="1050">
                <a:solidFill>
                  <a:srgbClr val="161D1A"/>
                </a:solidFill>
                <a:latin typeface="Segoe UI"/>
              </a:rPr>
              <a:t> sync vicino + async remoto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Servizi stateless: </a:t>
            </a:r>
            <a:r>
              <a:rPr b="1" sz="1050">
                <a:solidFill>
                  <a:srgbClr val="161D1A"/>
                </a:solidFill>
                <a:latin typeface="Segoe UI"/>
              </a:rPr>
              <a:t>active-active</a:t>
            </a:r>
            <a:r>
              <a:rPr sz="1050">
                <a:solidFill>
                  <a:srgbClr val="161D1A"/>
                </a:solidFill>
                <a:latin typeface="Segoe UI"/>
              </a:rPr>
              <a:t> multi-zona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RTO: minuti · </a:t>
            </a:r>
            <a:r>
              <a:rPr b="1" sz="1050">
                <a:solidFill>
                  <a:srgbClr val="161D1A"/>
                </a:solidFill>
                <a:latin typeface="Segoe UI"/>
              </a:rPr>
              <a:t>RPO ≈ 0</a:t>
            </a:r>
            <a:r>
              <a:rPr sz="1050">
                <a:solidFill>
                  <a:srgbClr val="161D1A"/>
                </a:solidFill>
                <a:latin typeface="Segoe UI"/>
              </a:rPr>
              <a:t> per il regolamento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Osservabilità &amp; incidenti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Logging immutabile, </a:t>
            </a:r>
            <a:r>
              <a:rPr b="1" sz="1050">
                <a:solidFill>
                  <a:srgbClr val="161D1A"/>
                </a:solidFill>
                <a:latin typeface="Segoe UI"/>
              </a:rPr>
              <a:t>distributed tracing</a:t>
            </a:r>
            <a:r>
              <a:rPr sz="1050">
                <a:solidFill>
                  <a:srgbClr val="161D1A"/>
                </a:solidFill>
                <a:latin typeface="Segoe UI"/>
              </a:rPr>
              <a:t>, SLO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NIST IR: 6 fasi (preparazione → lezioni apprese)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Pilastri </a:t>
            </a:r>
            <a:r>
              <a:rPr b="1" sz="1050">
                <a:solidFill>
                  <a:srgbClr val="161D1A"/>
                </a:solidFill>
                <a:latin typeface="Segoe UI"/>
              </a:rPr>
              <a:t>DORA</a:t>
            </a:r>
            <a:r>
              <a:rPr sz="1050">
                <a:solidFill>
                  <a:srgbClr val="161D1A"/>
                </a:solidFill>
                <a:latin typeface="Segoe UI"/>
              </a:rPr>
              <a:t>: rischio ICT, reporting, TLPT, terze parti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TARGET / Eurosistema — indisponibilità prolungata avrebbe effetti sistemici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guasti correlati  ·  concentrazione cloud  ·  cyber  ·  liquidità intraday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1 — COMPUTAZIONE, SOFTWARE,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Piattaforma dati di vigilanza: relazionale vs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Dati fortemente eterogenei → **polyglot persistence** governata, non un singolo database “migliore in assoluto”.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Architettura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Lakehouse</a:t>
            </a:r>
            <a:r>
              <a:rPr sz="1050">
                <a:solidFill>
                  <a:srgbClr val="161D1A"/>
                </a:solidFill>
                <a:latin typeface="Segoe UI"/>
              </a:rPr>
              <a:t>: object store + formato tabellare aperto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Medaglioni: </a:t>
            </a:r>
            <a:r>
              <a:rPr b="1" sz="1050">
                <a:solidFill>
                  <a:srgbClr val="161D1A"/>
                </a:solidFill>
                <a:latin typeface="Segoe UI"/>
              </a:rPr>
              <a:t>bronze / silver / gold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Kafka (streaming) + Spark/Flink + Airflow/dbt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Lambda a prevalenza batch</a:t>
            </a:r>
            <a:r>
              <a:rPr sz="1050">
                <a:solidFill>
                  <a:srgbClr val="161D1A"/>
                </a:solidFill>
                <a:latin typeface="Segoe UI"/>
              </a:rPr>
              <a:t> (riproducibilità)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Scelta per tipo di 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Bilanci/segnalazioni → </a:t>
            </a:r>
            <a:r>
              <a:rPr b="1" sz="1050">
                <a:solidFill>
                  <a:srgbClr val="161D1A"/>
                </a:solidFill>
                <a:latin typeface="Segoe UI"/>
              </a:rPr>
              <a:t>relazionale</a:t>
            </a:r>
            <a:r>
              <a:rPr sz="1050">
                <a:solidFill>
                  <a:srgbClr val="161D1A"/>
                </a:solidFill>
                <a:latin typeface="Segoe UI"/>
              </a:rPr>
              <a:t> (CP, ACID)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Serie storiche → store </a:t>
            </a:r>
            <a:r>
              <a:rPr b="1" sz="1050">
                <a:solidFill>
                  <a:srgbClr val="161D1A"/>
                </a:solidFill>
                <a:latin typeface="Segoe UI"/>
              </a:rPr>
              <a:t>time-series/columnare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Log transazione → </a:t>
            </a:r>
            <a:r>
              <a:rPr b="1" sz="1050">
                <a:solidFill>
                  <a:srgbClr val="161D1A"/>
                </a:solidFill>
                <a:latin typeface="Segoe UI"/>
              </a:rPr>
              <a:t>wide-column/KV</a:t>
            </a:r>
            <a:r>
              <a:rPr sz="1050">
                <a:solidFill>
                  <a:srgbClr val="161D1A"/>
                </a:solidFill>
                <a:latin typeface="Segoe UI"/>
              </a:rPr>
              <a:t> (AP)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Reti di esposizione → </a:t>
            </a:r>
            <a:r>
              <a:rPr b="1" sz="1050">
                <a:solidFill>
                  <a:srgbClr val="161D1A"/>
                </a:solidFill>
                <a:latin typeface="Segoe UI"/>
              </a:rPr>
              <a:t>database a grafo</a:t>
            </a:r>
            <a:r>
              <a:rPr sz="1050">
                <a:solidFill>
                  <a:srgbClr val="161D1A"/>
                </a:solidFill>
                <a:latin typeface="Segoe UI"/>
              </a:rPr>
              <a:t> (AML)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Query &amp; qualità 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Partizionamento, indicizzazione, viste materializzate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Validazione a livello silver, deduplicazione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Data lineage</a:t>
            </a:r>
            <a:r>
              <a:rPr sz="1050">
                <a:solidFill>
                  <a:srgbClr val="161D1A"/>
                </a:solidFill>
                <a:latin typeface="Segoe UI"/>
              </a:rPr>
              <a:t> end-to-end (tracciabilità)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Requisiti non funzionali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Scalabilità: storage/calcolo disaccoppiati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Cifratura at-rest/in transito, audit logging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GDPR</a:t>
            </a:r>
            <a:r>
              <a:rPr sz="1050">
                <a:solidFill>
                  <a:srgbClr val="161D1A"/>
                </a:solidFill>
                <a:latin typeface="Segoe UI"/>
              </a:rPr>
              <a:t>: minimizzazione, pseudonimizzazione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Una banca centrale è, in larga misura, un vasto sistema di basi dati governate e interrogabili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data swamp  ·  schema drift  ·  costo  ·  gap riconciliazione  ·  re-identificazione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1 — COMPUTAZIONE, SOFTWARE,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Modernizzazione cloud-native e sicurezza applicativa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L’isolamento che prima era “gratis” va ricostruito esplicitamente: OS, rete, pipeline. Multi-tenant → criterio guida è l’isolamento.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Container &amp; orchestrazione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VM = hypervisor; container = </a:t>
            </a:r>
            <a:r>
              <a:rPr b="1" sz="1050">
                <a:solidFill>
                  <a:srgbClr val="161D1A"/>
                </a:solidFill>
                <a:latin typeface="Segoe UI"/>
              </a:rPr>
              <a:t>namespace + cgroup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Kubernetes</a:t>
            </a:r>
            <a:r>
              <a:rPr sz="1050">
                <a:solidFill>
                  <a:srgbClr val="161D1A"/>
                </a:solidFill>
                <a:latin typeface="Segoe UI"/>
              </a:rPr>
              <a:t>: scheduling, scaling, rolling update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Multi-tenant: Namespace + RBAC + ResourceQuota + NetworkPolicy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Isolamento extra: microVM (Firecracker, gVisor/Kata)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Reti software-defined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SDN</a:t>
            </a:r>
            <a:r>
              <a:rPr sz="1050">
                <a:solidFill>
                  <a:srgbClr val="161D1A"/>
                </a:solidFill>
                <a:latin typeface="Segoe UI"/>
              </a:rPr>
              <a:t>: piano di controllo separato dal piano dati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Service mesh</a:t>
            </a:r>
            <a:r>
              <a:rPr sz="1050">
                <a:solidFill>
                  <a:srgbClr val="161D1A"/>
                </a:solidFill>
                <a:latin typeface="Segoe UI"/>
              </a:rPr>
              <a:t> (Istio/Linkerd): sidecar, </a:t>
            </a:r>
            <a:r>
              <a:rPr b="1" sz="1050">
                <a:solidFill>
                  <a:srgbClr val="161D1A"/>
                </a:solidFill>
                <a:latin typeface="Segoe UI"/>
              </a:rPr>
              <a:t>mTLS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Modello </a:t>
            </a:r>
            <a:r>
              <a:rPr b="1" sz="1050">
                <a:solidFill>
                  <a:srgbClr val="161D1A"/>
                </a:solidFill>
                <a:latin typeface="Segoe UI"/>
              </a:rPr>
              <a:t>Zero Trust</a:t>
            </a:r>
            <a:r>
              <a:rPr sz="1050">
                <a:solidFill>
                  <a:srgbClr val="161D1A"/>
                </a:solidFill>
                <a:latin typeface="Segoe UI"/>
              </a:rPr>
              <a:t>: nessuna fiducia per posizione di rete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Ingegneria del software sicuro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Linguaggi a tipizzazione forte per i componenti critici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CI/CD “shift left”: </a:t>
            </a:r>
            <a:r>
              <a:rPr b="1" sz="1050">
                <a:solidFill>
                  <a:srgbClr val="161D1A"/>
                </a:solidFill>
                <a:latin typeface="Segoe UI"/>
              </a:rPr>
              <a:t>SAST</a:t>
            </a:r>
            <a:r>
              <a:rPr sz="1050">
                <a:solidFill>
                  <a:srgbClr val="161D1A"/>
                </a:solidFill>
                <a:latin typeface="Segoe UI"/>
              </a:rPr>
              <a:t> + </a:t>
            </a:r>
            <a:r>
              <a:rPr b="1" sz="1050">
                <a:solidFill>
                  <a:srgbClr val="161D1A"/>
                </a:solidFill>
                <a:latin typeface="Segoe UI"/>
              </a:rPr>
              <a:t>SCA</a:t>
            </a:r>
            <a:r>
              <a:rPr sz="1050">
                <a:solidFill>
                  <a:srgbClr val="161D1A"/>
                </a:solidFill>
                <a:latin typeface="Segoe UI"/>
              </a:rPr>
              <a:t> + scan immagini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Firma delle immagini, gate su vulnerabilità critiche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Concorrenza &amp; risorse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Multi-thread/processo (CPU-bound) vs event-loop async (I/O-bound)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Race condition, deadlock, starvation → message-passing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cgroup + CFS + OOM killer</a:t>
            </a:r>
            <a:r>
              <a:rPr sz="1050">
                <a:solidFill>
                  <a:srgbClr val="161D1A"/>
                </a:solidFill>
                <a:latin typeface="Segoe UI"/>
              </a:rPr>
              <a:t> → prevedibilità multi-tenant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Piattaforma segnalazioni multi-tenant → traduzione pratica di resilienza operativa DORA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control-plane  ·  complessità operativa  ·  kernel condiviso  ·  supply chain  ·  skill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B0A6"/>
                </a:solidFill>
                <a:latin typeface="Consolas"/>
              </a:rPr>
              <a:t>PROFILO A — AMBITO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5F3"/>
                </a:solidFill>
                <a:latin typeface="Segoe UI Semibold"/>
              </a:rPr>
              <a:t>Crittografia, DLT,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1929384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2.1 Post-quantum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5496" y="3977639"/>
            <a:ext cx="1627631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2.2 DLT &amp; PET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19" y="3977639"/>
            <a:ext cx="2734056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2.3 Autenticazione forte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2 — CRITTOGRAFIA, DLT,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Migrazione post-quantum della crittografia istituzionale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Minaccia **“harvest now, decrypt later”**: per dati riservati di lunga durata, la pianificazione non può attendere il Q-Day.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Perché è vulnerabile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Shor</a:t>
            </a:r>
            <a:r>
              <a:rPr sz="1050">
                <a:solidFill>
                  <a:srgbClr val="161D1A"/>
                </a:solidFill>
                <a:latin typeface="Segoe UI"/>
              </a:rPr>
              <a:t> rompe RSA/ECC (fattorizzazione, log discreto)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Grover</a:t>
            </a:r>
            <a:r>
              <a:rPr sz="1050">
                <a:solidFill>
                  <a:srgbClr val="161D1A"/>
                </a:solidFill>
                <a:latin typeface="Segoe UI"/>
              </a:rPr>
              <a:t> indebolisce solo la simmetrica: AES-256 → ~128 bit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Hash: servono output più lunghi (SHA-384/512)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Standard NIST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FIPS 203 — ML-KEM</a:t>
            </a:r>
            <a:r>
              <a:rPr sz="1050">
                <a:solidFill>
                  <a:srgbClr val="161D1A"/>
                </a:solidFill>
                <a:latin typeface="Segoe UI"/>
              </a:rPr>
              <a:t>: scambio chiavi (reticoli)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FIPS 204 — ML-DSA</a:t>
            </a:r>
            <a:r>
              <a:rPr sz="1050">
                <a:solidFill>
                  <a:srgbClr val="161D1A"/>
                </a:solidFill>
                <a:latin typeface="Segoe UI"/>
              </a:rPr>
              <a:t>: firma digitale primaria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FIPS 205 — SLH-DSA</a:t>
            </a:r>
            <a:r>
              <a:rPr sz="1050">
                <a:solidFill>
                  <a:srgbClr val="161D1A"/>
                </a:solidFill>
                <a:latin typeface="Segoe UI"/>
              </a:rPr>
              <a:t>: firma di riserva (hash-based)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FN-DSA/Falcon: in arrivo (FIPS 206)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Roadmap di migrazione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Inventario crittografico (</a:t>
            </a:r>
            <a:r>
              <a:rPr b="1" sz="1050">
                <a:solidFill>
                  <a:srgbClr val="161D1A"/>
                </a:solidFill>
                <a:latin typeface="Segoe UI"/>
              </a:rPr>
              <a:t>CBOM</a:t>
            </a:r>
            <a:r>
              <a:rPr sz="1050">
                <a:solidFill>
                  <a:srgbClr val="161D1A"/>
                </a:solidFill>
                <a:latin typeface="Segoe UI"/>
              </a:rPr>
              <a:t>) → priorità sul rischio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Modalità ibrida</a:t>
            </a:r>
            <a:r>
              <a:rPr sz="1050">
                <a:solidFill>
                  <a:srgbClr val="161D1A"/>
                </a:solidFill>
                <a:latin typeface="Segoe UI"/>
              </a:rPr>
              <a:t> (classico + PQC) nello stesso handshake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PKI ibrida/PQC, poi </a:t>
            </a:r>
            <a:r>
              <a:rPr b="1" sz="1050">
                <a:solidFill>
                  <a:srgbClr val="161D1A"/>
                </a:solidFill>
                <a:latin typeface="Segoe UI"/>
              </a:rPr>
              <a:t>agilità crittografica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Dismissione ~2030, divieto ~2035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Impatto su protocolli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TLS 1.3</a:t>
            </a:r>
            <a:r>
              <a:rPr sz="1050">
                <a:solidFill>
                  <a:srgbClr val="161D1A"/>
                </a:solidFill>
                <a:latin typeface="Segoe UI"/>
              </a:rPr>
              <a:t> hybrid key exchange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IPsec/IKEv2, SSH, firmware HSM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Handshake e catene di certificati più grandi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Riservatezza da proteggere per decenni + infrastrutture di firma sistemiche → HNDL rilevante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side-channel  ·  ecosistema immaturo  ·  hardware legacy  ·  rottura schema futuro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2 — CRITTOGRAFIA, DLT,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DLT e Privacy-Enhancing Technologies per la finanza tokenizzata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Finalità, riservatezza, scalabilità e GDPR in tensione — contesto **regolamentato, a soggetti noti**, non rete pubblica anonima.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Architettura e consenso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Rete </a:t>
            </a:r>
            <a:r>
              <a:rPr b="1" sz="1050">
                <a:solidFill>
                  <a:srgbClr val="161D1A"/>
                </a:solidFill>
                <a:latin typeface="Segoe UI"/>
              </a:rPr>
              <a:t>permissioned</a:t>
            </a:r>
            <a:r>
              <a:rPr sz="1050">
                <a:solidFill>
                  <a:srgbClr val="161D1A"/>
                </a:solidFill>
                <a:latin typeface="Segoe UI"/>
              </a:rPr>
              <a:t> + consenso </a:t>
            </a:r>
            <a:r>
              <a:rPr b="1" sz="1050">
                <a:solidFill>
                  <a:srgbClr val="161D1A"/>
                </a:solidFill>
                <a:latin typeface="Segoe UI"/>
              </a:rPr>
              <a:t>BFT</a:t>
            </a:r>
            <a:r>
              <a:rPr sz="1050">
                <a:solidFill>
                  <a:srgbClr val="161D1A"/>
                </a:solidFill>
                <a:latin typeface="Segoe UI"/>
              </a:rPr>
              <a:t> (PBFT/IBFT)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Finalità immediata e deterministica, nessun fork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PoW/PoS scartati (costo, finalità probabilistica)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Smart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Esecuzione </a:t>
            </a:r>
            <a:r>
              <a:rPr b="1" sz="1050">
                <a:solidFill>
                  <a:srgbClr val="161D1A"/>
                </a:solidFill>
                <a:latin typeface="Segoe UI"/>
              </a:rPr>
              <a:t>deterministica</a:t>
            </a:r>
            <a:r>
              <a:rPr sz="1050">
                <a:solidFill>
                  <a:srgbClr val="161D1A"/>
                </a:solidFill>
                <a:latin typeface="Segoe UI"/>
              </a:rPr>
              <a:t> (EVM/Solidity, Move, DAML)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Rischi: reentrancy, overflow, </a:t>
            </a:r>
            <a:r>
              <a:rPr b="1" sz="1050">
                <a:solidFill>
                  <a:srgbClr val="161D1A"/>
                </a:solidFill>
                <a:latin typeface="Segoe UI"/>
              </a:rPr>
              <a:t>oracoli</a:t>
            </a:r>
            <a:r>
              <a:rPr sz="1050">
                <a:solidFill>
                  <a:srgbClr val="161D1A"/>
                </a:solidFill>
                <a:latin typeface="Segoe UI"/>
              </a:rPr>
              <a:t> (SPOF)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Contromisure: audit, verifica formale, checks-effects-interactions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Scalabilità &amp; interoperabilità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Layer-2/rollup</a:t>
            </a:r>
            <a:r>
              <a:rPr sz="1050">
                <a:solidFill>
                  <a:srgbClr val="161D1A"/>
                </a:solidFill>
                <a:latin typeface="Segoe UI"/>
              </a:rPr>
              <a:t> (optimistic o ZK), sharding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Bridge, schemi notary, </a:t>
            </a:r>
            <a:r>
              <a:rPr b="1" sz="1050">
                <a:solidFill>
                  <a:srgbClr val="161D1A"/>
                </a:solidFill>
                <a:latin typeface="Segoe UI"/>
              </a:rPr>
              <a:t>HTLC</a:t>
            </a:r>
            <a:r>
              <a:rPr sz="1050">
                <a:solidFill>
                  <a:srgbClr val="161D1A"/>
                </a:solidFill>
                <a:latin typeface="Segoe UI"/>
              </a:rPr>
              <a:t> cross-chain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Privacy vs GDPR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zk-SNARK/STARK</a:t>
            </a:r>
            <a:r>
              <a:rPr sz="1050">
                <a:solidFill>
                  <a:srgbClr val="161D1A"/>
                </a:solidFill>
                <a:latin typeface="Segoe UI"/>
              </a:rPr>
              <a:t>, omomorfica, MPC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Immutabilità DLT vs diritto alla cancellazione (art. 17)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Dati personali </a:t>
            </a:r>
            <a:r>
              <a:rPr b="1" sz="1050">
                <a:solidFill>
                  <a:srgbClr val="161D1A"/>
                </a:solidFill>
                <a:latin typeface="Segoe UI"/>
              </a:rPr>
              <a:t>off-chain</a:t>
            </a:r>
            <a:r>
              <a:rPr sz="1050">
                <a:solidFill>
                  <a:srgbClr val="161D1A"/>
                </a:solidFill>
                <a:latin typeface="Segoe UI"/>
              </a:rPr>
              <a:t>, solo hash/commitment on-chain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Eurosistema — regolamento wholesale in moneta di banca centrale (wholesale CBDC)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oracoli  ·  gestione chiavi  ·  governance rete  ·  certezza giuridica  ·  frammentazione bridge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2 — CRITTOGRAFIA, DLT,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Autenticazione forte e comunicazione sicura per l’accesso esterno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Le credenziali compromesse, non le falle crittografiche, sono il vettore #1. Principio guida: **Zero Trust**.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TLS: simmetrica + asimmetrica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Asimmetrica </a:t>
            </a:r>
            <a:r>
              <a:rPr b="1" sz="1050">
                <a:solidFill>
                  <a:srgbClr val="161D1A"/>
                </a:solidFill>
                <a:latin typeface="Segoe UI"/>
              </a:rPr>
              <a:t>inizializza</a:t>
            </a:r>
            <a:r>
              <a:rPr sz="1050">
                <a:solidFill>
                  <a:srgbClr val="161D1A"/>
                </a:solidFill>
                <a:latin typeface="Segoe UI"/>
              </a:rPr>
              <a:t> (ECDHE, forward secrecy)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Chiave di sessione simmetrica (AES-GCM) cifra il traffico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Firma, certificati, PKI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X.509, catena di fiducia CA root → intermedie → foglia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Revoca: </a:t>
            </a:r>
            <a:r>
              <a:rPr b="1" sz="1050">
                <a:solidFill>
                  <a:srgbClr val="161D1A"/>
                </a:solidFill>
                <a:latin typeface="Segoe UI"/>
              </a:rPr>
              <a:t>CRL</a:t>
            </a:r>
            <a:r>
              <a:rPr sz="1050">
                <a:solidFill>
                  <a:srgbClr val="161D1A"/>
                </a:solidFill>
                <a:latin typeface="Segoe UI"/>
              </a:rPr>
              <a:t> (periodica) vs </a:t>
            </a:r>
            <a:r>
              <a:rPr b="1" sz="1050">
                <a:solidFill>
                  <a:srgbClr val="161D1A"/>
                </a:solidFill>
                <a:latin typeface="Segoe UI"/>
              </a:rPr>
              <a:t>OCSP</a:t>
            </a:r>
            <a:r>
              <a:rPr sz="1050">
                <a:solidFill>
                  <a:srgbClr val="161D1A"/>
                </a:solidFill>
                <a:latin typeface="Segoe UI"/>
              </a:rPr>
              <a:t> (real-time, preferibile)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MFA e Zero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FIDO2/WebAuthn</a:t>
            </a:r>
            <a:r>
              <a:rPr sz="1050">
                <a:solidFill>
                  <a:srgbClr val="161D1A"/>
                </a:solidFill>
                <a:latin typeface="Segoe UI"/>
              </a:rPr>
              <a:t> — resistente al phishing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OAuth2</a:t>
            </a:r>
            <a:r>
              <a:rPr sz="1050">
                <a:solidFill>
                  <a:srgbClr val="161D1A"/>
                </a:solidFill>
                <a:latin typeface="Segoe UI"/>
              </a:rPr>
              <a:t> (autorizzazione) + </a:t>
            </a:r>
            <a:r>
              <a:rPr b="1" sz="1050">
                <a:solidFill>
                  <a:srgbClr val="161D1A"/>
                </a:solidFill>
                <a:latin typeface="Segoe UI"/>
              </a:rPr>
              <a:t>OIDC</a:t>
            </a:r>
            <a:r>
              <a:rPr sz="1050">
                <a:solidFill>
                  <a:srgbClr val="161D1A"/>
                </a:solidFill>
                <a:latin typeface="Segoe UI"/>
              </a:rPr>
              <a:t> (autenticazione) per la delega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Verifica esplicita e continua della sessione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Credenziali &amp; segreti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Argon2id</a:t>
            </a:r>
            <a:r>
              <a:rPr sz="1050">
                <a:solidFill>
                  <a:srgbClr val="161D1A"/>
                </a:solidFill>
                <a:latin typeface="Segoe UI"/>
              </a:rPr>
              <a:t> + salt per le password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Chiavi in </a:t>
            </a:r>
            <a:r>
              <a:rPr b="1" sz="1050">
                <a:solidFill>
                  <a:srgbClr val="161D1A"/>
                </a:solidFill>
                <a:latin typeface="Segoe UI"/>
              </a:rPr>
              <a:t>HSM/vault</a:t>
            </a:r>
            <a:r>
              <a:rPr sz="1050">
                <a:solidFill>
                  <a:srgbClr val="161D1A"/>
                </a:solidFill>
                <a:latin typeface="Segoe UI"/>
              </a:rPr>
              <a:t>, mai nel codice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Rotazione periodica dei segreti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Portale per intermediari esterni — bersaglio permanente di phishing e credential stuffing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MFA non adottato da terzi  ·  CA compromessa  ·  session hijacking  ·  HSM SPOF  ·  SIM swap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B0A6"/>
                </a:solidFill>
                <a:latin typeface="Consolas"/>
              </a:rPr>
              <a:t>PROFILO A — AMBITO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5F3"/>
                </a:solidFill>
                <a:latin typeface="Segoe UI Semibold"/>
              </a:rPr>
              <a:t>Intelligenza artificiale, machine learning, data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2532888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3.1 Fraud/AML + AI 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77639"/>
            <a:ext cx="1627631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3.2 LLM &amp;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1223" y="3977639"/>
            <a:ext cx="1828800" cy="402336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3.3 Multiagente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3 — IA, ML,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Pipeline ML per fraud detection/AML e governance sotto l’AI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Sistema **ad alto rischio** per l’AI Act. Le frodi sono **eventi rari**: orienta modello e metriche.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Pipeline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Feature engineering: velocity, aggregazioni, feature di grafo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Supervisionato: logistica baseline → random forest/XGBoost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Non supervisionato: isolation forest, autoencoder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Sbilanciamento &amp; metriche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Accuratezza </a:t>
            </a:r>
            <a:r>
              <a:rPr b="1" sz="1050">
                <a:solidFill>
                  <a:srgbClr val="161D1A"/>
                </a:solidFill>
                <a:latin typeface="Segoe UI"/>
              </a:rPr>
              <a:t>fuorviante</a:t>
            </a:r>
            <a:r>
              <a:rPr sz="1050">
                <a:solidFill>
                  <a:srgbClr val="161D1A"/>
                </a:solidFill>
                <a:latin typeface="Segoe UI"/>
              </a:rPr>
              <a:t> → precision/recall/F1, </a:t>
            </a:r>
            <a:r>
              <a:rPr b="1" sz="1050">
                <a:solidFill>
                  <a:srgbClr val="161D1A"/>
                </a:solidFill>
                <a:latin typeface="Segoe UI"/>
              </a:rPr>
              <a:t>AUC-PR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SMOTE, class weighting, tuning della soglia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Trade-off: recall (FN costoso) vs precision (alert fatigue)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Spiegabilità, bias, robustezza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SHAP/LIME</a:t>
            </a:r>
            <a:r>
              <a:rPr sz="1050">
                <a:solidFill>
                  <a:srgbClr val="161D1A"/>
                </a:solidFill>
                <a:latin typeface="Segoe UI"/>
              </a:rPr>
              <a:t> come requisito di vigilanza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Fairness, MLOps, </a:t>
            </a:r>
            <a:r>
              <a:rPr b="1" sz="1050">
                <a:solidFill>
                  <a:srgbClr val="161D1A"/>
                </a:solidFill>
                <a:latin typeface="Segoe UI"/>
              </a:rPr>
              <a:t>concept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AI Act &amp; model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Risk management, data governance, documentazione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Logging, </a:t>
            </a:r>
            <a:r>
              <a:rPr b="1" sz="1050">
                <a:solidFill>
                  <a:srgbClr val="161D1A"/>
                </a:solidFill>
                <a:latin typeface="Segoe UI"/>
              </a:rPr>
              <a:t>sorveglianza umana</a:t>
            </a:r>
            <a:r>
              <a:rPr sz="1050">
                <a:solidFill>
                  <a:srgbClr val="161D1A"/>
                </a:solidFill>
                <a:latin typeface="Segoe UI"/>
              </a:rPr>
              <a:t>, model risk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AI Act: scoring creditizio, AML, fraud detection = alto rischio esplicito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concept drift  ·  costo falsi positivi  ·  qualità dato  ·  spiegabilità vs prestazioni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3 — IA, ML,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LLM e RAG all’interno dell’istituzione: architettura e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Nessuna esposizione di dati riservati + risposte verificabili → **RAG**, non fine-tuning.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Transformer &amp; opzioni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Self-attention</a:t>
            </a:r>
            <a:r>
              <a:rPr sz="1050">
                <a:solidFill>
                  <a:srgbClr val="161D1A"/>
                </a:solidFill>
                <a:latin typeface="Segoe UI"/>
              </a:rPr>
              <a:t>, embedding, codifica posizionale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Prompting vs fine-tuning (rischio: dati riservati) vs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Architettura RAG sicura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Ingestione: chunk + embedding → DB vettoriale interno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Retrieval ibrido (denso + BM25) + re-ranking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Generazione </a:t>
            </a:r>
            <a:r>
              <a:rPr b="1" sz="1050">
                <a:solidFill>
                  <a:srgbClr val="161D1A"/>
                </a:solidFill>
                <a:latin typeface="Segoe UI"/>
              </a:rPr>
              <a:t>con citazione</a:t>
            </a:r>
            <a:r>
              <a:rPr sz="1050">
                <a:solidFill>
                  <a:srgbClr val="161D1A"/>
                </a:solidFill>
                <a:latin typeface="Segoe UI"/>
              </a:rPr>
              <a:t> dei passaggi sorgente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Rischi IA generativa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Allucinazione → ancoraggio + citazione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Data leakage → on-prem/cloud sovrano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Prompt injection</a:t>
            </a:r>
            <a:r>
              <a:rPr sz="1050">
                <a:solidFill>
                  <a:srgbClr val="161D1A"/>
                </a:solidFill>
                <a:latin typeface="Segoe UI"/>
              </a:rPr>
              <a:t> → guardrail, privilegio minimo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AI Act &amp;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Trasparenza GPAI, documentazione tecnica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Sorveglianza umana: l’analista valida, il modello assiste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Ammissibilità dipende da verificabilità + riservatezza → RAG interno con citazioni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allucinazione residua  ·  gap di retrieval  ·  prompt injection evolutiva  ·  over-reliance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E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6E5F"/>
                </a:solidFill>
                <a:latin typeface="Consolas"/>
              </a:rPr>
              <a:t>A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3 — IA, ML,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Sistema multiagente: conoscenza, ragionamento e dati sintetici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0F6E5F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Regole esplicite → IA **simbolica**; pattern non anticipabili → IA **statistica**. Progetto ibrido e multiagente.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(a) Simbolica vs induttiva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Regole if-then, </a:t>
            </a:r>
            <a:r>
              <a:rPr b="1" sz="1050">
                <a:solidFill>
                  <a:srgbClr val="161D1A"/>
                </a:solidFill>
                <a:latin typeface="Segoe UI"/>
              </a:rPr>
              <a:t>ontologie</a:t>
            </a:r>
            <a:r>
              <a:rPr sz="1050">
                <a:solidFill>
                  <a:srgbClr val="161D1A"/>
                </a:solidFill>
                <a:latin typeface="Segoe UI"/>
              </a:rPr>
              <a:t>, motore di inferenza → deterministico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ML per anomalie nuove, non codificabili a priori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(b) Architettura multiagente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Agenti specializzati (contabile, AML, prudenziale)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Agente </a:t>
            </a:r>
            <a:r>
              <a:rPr b="1" sz="1050">
                <a:solidFill>
                  <a:srgbClr val="161D1A"/>
                </a:solidFill>
                <a:latin typeface="Segoe UI"/>
              </a:rPr>
              <a:t>orchestratore</a:t>
            </a:r>
            <a:r>
              <a:rPr sz="1050">
                <a:solidFill>
                  <a:srgbClr val="161D1A"/>
                </a:solidFill>
                <a:latin typeface="Segoe UI"/>
              </a:rPr>
              <a:t>: instrada, aggrega, arbitra conflitti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(c) Clustering &amp; data viz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k-means</a:t>
            </a:r>
            <a:r>
              <a:rPr sz="1050">
                <a:solidFill>
                  <a:srgbClr val="161D1A"/>
                </a:solidFill>
                <a:latin typeface="Segoe UI"/>
              </a:rPr>
              <a:t>, </a:t>
            </a:r>
            <a:r>
              <a:rPr b="1" sz="1050">
                <a:solidFill>
                  <a:srgbClr val="161D1A"/>
                </a:solidFill>
                <a:latin typeface="Segoe UI"/>
              </a:rPr>
              <a:t>DBSCAN</a:t>
            </a:r>
            <a:r>
              <a:rPr sz="1050">
                <a:solidFill>
                  <a:srgbClr val="161D1A"/>
                </a:solidFill>
                <a:latin typeface="Segoe UI"/>
              </a:rPr>
              <a:t>, gerarchico → outlier = anomalie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t-SNE/UMAP, dashboard → sorveglianza umana effettiva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F"/>
                </a:solidFill>
                <a:latin typeface="Segoe UI Semibold"/>
              </a:rPr>
              <a:t>(d) Dati sintetici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GAN/VAE, copule statistiche, </a:t>
            </a:r>
            <a:r>
              <a:rPr b="1" sz="1050">
                <a:solidFill>
                  <a:srgbClr val="161D1A"/>
                </a:solidFill>
                <a:latin typeface="Segoe UI"/>
              </a:rPr>
              <a:t>SMOTE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Rischio duplice: bassa fedeltà vs memorizzazione (privacy leak)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Automatizza il lavoro di unità specialistiche mantenendo tracciabilità e motivabilità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conflitto tra agenti  ·  drift normativo  ·  falsi positivi  ·  dati sintetici mal calibrati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B0A6"/>
                </a:solidFill>
                <a:latin typeface="Consolas"/>
              </a:rPr>
              <a:t>PROFILO C — ASSISTENTE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5F3"/>
                </a:solidFill>
                <a:latin typeface="Segoe UI Semibold"/>
              </a:rPr>
              <a:t>Fondamenti applicati: software, dati, reti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1627631" cy="402336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1.1 Algoritmi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3743" y="3977639"/>
            <a:ext cx="1828800" cy="402336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1.2 Secure SDLC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5" y="3977639"/>
            <a:ext cx="1929384" cy="402336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2.1 Basi di dati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11111" y="3977639"/>
            <a:ext cx="923544" cy="402336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2.2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7" y="3977639"/>
            <a:ext cx="1124712" cy="402336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3.1 Reti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1" y="3977639"/>
            <a:ext cx="1929384" cy="402336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3.2 Crittografia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C ·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1 — PROGETTAZIONE E SVILUPPO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Algoritmi e strutture dati per la riconciliazione di transazioni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A5601A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Deduplica, ordinamento, ricerca su grandi volumi: la scelta della struttura dati determina l’efficienza del sistema.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(a) Strutture dati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Hash table</a:t>
            </a:r>
            <a:r>
              <a:rPr sz="1050">
                <a:solidFill>
                  <a:srgbClr val="161D1A"/>
                </a:solidFill>
                <a:latin typeface="Segoe UI"/>
              </a:rPr>
              <a:t> per ricerca/dedup — O(1) medio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Array ordinato/albero bilanciato per dati ordinati — O(log 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(b) Algoritmi &amp; complessità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Merge sort</a:t>
            </a:r>
            <a:r>
              <a:rPr sz="1050">
                <a:solidFill>
                  <a:srgbClr val="161D1A"/>
                </a:solidFill>
                <a:latin typeface="Segoe UI"/>
              </a:rPr>
              <a:t> O(n log n) garantito e stabile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Quick sort O(n log n) medio, O(n²) pessimo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Ricerca binaria O(log n); trade-off tempo/memoria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(c) Trade-off &amp; scalabilità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Hash table: velocità vs memoria/degenerazione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Array ordinato: parco di memoria ma insert 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(d) Trattabilità P/NP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P</a:t>
            </a:r>
            <a:r>
              <a:rPr sz="1050">
                <a:solidFill>
                  <a:srgbClr val="161D1A"/>
                </a:solidFill>
                <a:latin typeface="Segoe UI"/>
              </a:rPr>
              <a:t>: risolvibile in tempo polinomiale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NP</a:t>
            </a:r>
            <a:r>
              <a:rPr sz="1050">
                <a:solidFill>
                  <a:srgbClr val="161D1A"/>
                </a:solidFill>
                <a:latin typeface="Segoe UI"/>
              </a:rPr>
              <a:t>: verificabile in tempo polinomiale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NP-difficili → euristiche e approssimazioni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Riconciliazione 24/7 di grandi volumi entro finestre operative limitate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collisioni hash  ·  consumo memoria  ·  data skew  ·  external sorting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C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1 — PROGETTAZIONE E SVILUPPO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Secure SDLC e OWASP per un’applicazione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A5601A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La sicurezza non si aggiunge alla fine: va incorporata in ogni fase del ciclo di vita (“shift left”).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(a) Sicurezza lungo l’SDLC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Requisiti → design (</a:t>
            </a:r>
            <a:r>
              <a:rPr b="1" sz="1050">
                <a:solidFill>
                  <a:srgbClr val="161D1A"/>
                </a:solidFill>
                <a:latin typeface="Segoe UI"/>
              </a:rPr>
              <a:t>threat modelling STRIDE</a:t>
            </a:r>
            <a:r>
              <a:rPr sz="1050">
                <a:solidFill>
                  <a:srgbClr val="161D1A"/>
                </a:solidFill>
                <a:latin typeface="Segoe UI"/>
              </a:rPr>
              <a:t>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Implementazione (code review) → testing →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(b) Strategia di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SAST</a:t>
            </a:r>
            <a:r>
              <a:rPr sz="1050">
                <a:solidFill>
                  <a:srgbClr val="161D1A"/>
                </a:solidFill>
                <a:latin typeface="Segoe UI"/>
              </a:rPr>
              <a:t> (codice statico) + </a:t>
            </a:r>
            <a:r>
              <a:rPr b="1" sz="1050">
                <a:solidFill>
                  <a:srgbClr val="161D1A"/>
                </a:solidFill>
                <a:latin typeface="Segoe UI"/>
              </a:rPr>
              <a:t>DAST</a:t>
            </a:r>
            <a:r>
              <a:rPr sz="1050">
                <a:solidFill>
                  <a:srgbClr val="161D1A"/>
                </a:solidFill>
                <a:latin typeface="Segoe UI"/>
              </a:rPr>
              <a:t> (runtime) + fuzzing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Integrati nella pipeline 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(c) OWASP Top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A01</a:t>
            </a:r>
            <a:r>
              <a:rPr sz="1050">
                <a:solidFill>
                  <a:srgbClr val="161D1A"/>
                </a:solidFill>
                <a:latin typeface="Segoe UI"/>
              </a:rPr>
              <a:t> Broken Access Control → autorizzazione server-side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A02</a:t>
            </a:r>
            <a:r>
              <a:rPr sz="1050">
                <a:solidFill>
                  <a:srgbClr val="161D1A"/>
                </a:solidFill>
                <a:latin typeface="Segoe UI"/>
              </a:rPr>
              <a:t> Cryptographic Failures → TLS, mai MD5/SHA-1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A03</a:t>
            </a:r>
            <a:r>
              <a:rPr sz="1050">
                <a:solidFill>
                  <a:srgbClr val="161D1A"/>
                </a:solidFill>
                <a:latin typeface="Segoe UI"/>
              </a:rPr>
              <a:t> Injection → prepared statement parametrizzati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(d) Credenziali &amp; qualità codice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Argon2id</a:t>
            </a:r>
            <a:r>
              <a:rPr sz="1050">
                <a:solidFill>
                  <a:srgbClr val="161D1A"/>
                </a:solidFill>
                <a:latin typeface="Segoe UI"/>
              </a:rPr>
              <a:t> + salt, mai hash veloci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Test coverage, bassa complessità ciclomatica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Applicazione pubblica esposta 24/7 = bersaglio costante di attacchi automatizzati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zero-day  ·  supply chain  ·  errori config  ·  errore umano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C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2 — BASI DI DATI E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Progettazione di una base di dati: dal concettuale al fisico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A5601A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Tre fasi — concettuale, logica, fisica. In ambito bancario la **correttezza transazionale** è il vincolo dominante.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(a) Modello 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Entità: Cliente, Conto, Movimento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Relazioni 1:N / N:M, cardinalità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(b) Schema relazionale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PK/FK; normalizzazione </a:t>
            </a:r>
            <a:r>
              <a:rPr b="1" sz="1050">
                <a:solidFill>
                  <a:srgbClr val="161D1A"/>
                </a:solidFill>
                <a:latin typeface="Segoe UI"/>
              </a:rPr>
              <a:t>1NF/2NF/3NF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Previene anomalie di insert/update/delete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(c) Progettazione fisica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Indici </a:t>
            </a:r>
            <a:r>
              <a:rPr b="1" sz="1050">
                <a:solidFill>
                  <a:srgbClr val="161D1A"/>
                </a:solidFill>
                <a:latin typeface="Segoe UI"/>
              </a:rPr>
              <a:t>B-tree</a:t>
            </a:r>
            <a:r>
              <a:rPr sz="1050">
                <a:solidFill>
                  <a:srgbClr val="161D1A"/>
                </a:solidFill>
                <a:latin typeface="Segoe UI"/>
              </a:rPr>
              <a:t> su colonne interrogate (IBAN, data)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Trade-off: velocità di lettura vs costo in scrittura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(d) ACID vs NoSQL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Bonifico atomico → </a:t>
            </a:r>
            <a:r>
              <a:rPr b="1" sz="1050">
                <a:solidFill>
                  <a:srgbClr val="161D1A"/>
                </a:solidFill>
                <a:latin typeface="Segoe UI"/>
              </a:rPr>
              <a:t>ACID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Teorema CAP: CP (Mongo/HBase) vs AP (Cassandra/DynamoDB)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Una banca centrale è, in larga misura, un grande sistema di basi di dati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over-normalizzazione  ·  indici eccessivi  ·  lock contention  ·  NoSQL inappropriato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C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2 — BASI DI DATI E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Fondamenti di machine learning per un problema di classificazione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A5601A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Classificazione supervisionata; la frode è un evento **raro** — obiettivo: generalizzare, non memorizzare.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(a) Tipi di apprendimento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Supervisionato (dati etichettati) — scelta naturale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Non supervisionato: </a:t>
            </a:r>
            <a:r>
              <a:rPr b="1" sz="1050">
                <a:solidFill>
                  <a:srgbClr val="161D1A"/>
                </a:solidFill>
                <a:latin typeface="Segoe UI"/>
              </a:rPr>
              <a:t>anomaly detection</a:t>
            </a:r>
            <a:r>
              <a:rPr sz="1050">
                <a:solidFill>
                  <a:srgbClr val="161D1A"/>
                </a:solidFill>
                <a:latin typeface="Segoe UI"/>
              </a:rPr>
              <a:t> se frodi scarse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(b) Pipeline di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Pulizia/encoding → feature (importo, frequenza, orario)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Split </a:t>
            </a:r>
            <a:r>
              <a:rPr b="1" sz="1050">
                <a:solidFill>
                  <a:srgbClr val="161D1A"/>
                </a:solidFill>
                <a:latin typeface="Segoe UI"/>
              </a:rPr>
              <a:t>train/validation/test</a:t>
            </a:r>
            <a:r>
              <a:rPr sz="1050">
                <a:solidFill>
                  <a:srgbClr val="161D1A"/>
                </a:solidFill>
                <a:latin typeface="Segoe UI"/>
              </a:rPr>
              <a:t> →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(c) Overfitting &amp; valutazione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Regolarizzazione, cross-validation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Accuratezza fuorviante → </a:t>
            </a:r>
            <a:r>
              <a:rPr b="1" sz="1050">
                <a:solidFill>
                  <a:srgbClr val="161D1A"/>
                </a:solidFill>
                <a:latin typeface="Segoe UI"/>
              </a:rPr>
              <a:t>precision/recall/F1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(d) Interpretabilità &amp; AI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Regressione logistica leggibile vs black-box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AI Act: alto rischio → spiegabilità + governance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Capire il ML per poterlo governare, non solo per saperlo costruire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concept drift  ·  sbilanciamento  ·  bias  ·  spiegabilità vs prestazioni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C ·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3 — ARCHITETTURA DEI SISTEMI INFORMATICI E DELLE RETI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Rete sicura e resiliente con componenti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A5601A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Sicurezza + segmentazione + resilienza, simultaneamente. Principio guida: **difesa in profondità**.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(a) Livelli &amp; dispositivi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OSI/TCP-IP; switch (L2, MAC) vs router (L3, IP)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(b) Segmentazione &amp; perimetro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DMZ</a:t>
            </a:r>
            <a:r>
              <a:rPr sz="1050">
                <a:solidFill>
                  <a:srgbClr val="161D1A"/>
                </a:solidFill>
                <a:latin typeface="Segoe UI"/>
              </a:rPr>
              <a:t> + VLAN; firewall stateful; IDS/IPS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Reverse proxy + WAF; VPN (IPsec/TLS)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(c) Attacchi &amp; contromisure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DDoS → scrubbing/CDN/rate limiting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MITM → TLS + cert pinning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ARP/DNS spoofing → DNSSEC + dynamic ARP inspection + segmentazione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(d) Cloud &amp; resilienza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IaaS/PaaS/SaaS + responsabilità condivisa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HA multi-AZ (99,99% ≈ 52 min/anno) + DR (RPO/RTO)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Rete di una banca centrale = traffico critico, bersaglio costante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concentrazione cloud  ·  errori config  ·  insider threat  ·  guasti correlati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2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35000"/>
            </a:avLst>
          </a:prstGeom>
          <a:solidFill>
            <a:srgbClr val="F5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A5601A"/>
                </a:solidFill>
                <a:latin typeface="Consolas"/>
              </a:rPr>
              <a:t>C ·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743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C5751"/>
                </a:solidFill>
                <a:latin typeface="Consolas"/>
              </a:rPr>
              <a:t>AMBITO 3 — ARCHITETTURA DEI SISTEMI INFORMATICI E DELLE RETI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53035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1D1A"/>
                </a:solidFill>
                <a:latin typeface="Segoe UI Semibold"/>
              </a:rPr>
              <a:t>Tecniche crittografiche e applicazioni, con cenni ai registri distribuiti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1D1A"/>
                </a:solidFill>
                <a:latin typeface="Segoe UI"/>
              </a:rPr>
              <a:t/>
            </a:r>
            <a:r>
              <a:rPr b="1" sz="1250">
                <a:solidFill>
                  <a:srgbClr val="A5601A"/>
                </a:solidFill>
                <a:latin typeface="Segoe UI"/>
              </a:rPr>
              <a:t>Impostazione.  </a:t>
            </a:r>
            <a:r>
              <a:rPr sz="1250">
                <a:solidFill>
                  <a:srgbClr val="161D1A"/>
                </a:solidFill>
                <a:latin typeface="Segoe UI"/>
              </a:rPr>
              <a:t>Riservatezza, integrità, autenticità, non ripudio: i mattoni della sicurezza informatica.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(a) Simmetrica, asimmetrica,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AES</a:t>
            </a:r>
            <a:r>
              <a:rPr sz="1050">
                <a:solidFill>
                  <a:srgbClr val="161D1A"/>
                </a:solidFill>
                <a:latin typeface="Segoe UI"/>
              </a:rPr>
              <a:t> (veloce, problema scambio chiave)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b="1" sz="1050">
                <a:solidFill>
                  <a:srgbClr val="161D1A"/>
                </a:solidFill>
                <a:latin typeface="Segoe UI"/>
              </a:rPr>
              <a:t>RSA/ECC</a:t>
            </a:r>
            <a:r>
              <a:rPr sz="1050">
                <a:solidFill>
                  <a:srgbClr val="161D1A"/>
                </a:solidFill>
                <a:latin typeface="Segoe UI"/>
              </a:rPr>
              <a:t> (lenta, coppia di chiavi)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SHA-256: one-way, anti-collisione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(b) Firma, X.509, PKI,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Firma = hash cifrato con chiave privata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X.509 + PKI → base di TLS/HTTPS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(c) Due applicazioni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Handshake TLS: cert + scambio chiave → sessione simmetrica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Password: </a:t>
            </a:r>
            <a:r>
              <a:rPr b="1" sz="1050">
                <a:solidFill>
                  <a:srgbClr val="161D1A"/>
                </a:solidFill>
                <a:latin typeface="Segoe UI"/>
              </a:rPr>
              <a:t>Argon2id</a:t>
            </a:r>
            <a:r>
              <a:rPr sz="1050">
                <a:solidFill>
                  <a:srgbClr val="161D1A"/>
                </a:solidFill>
                <a:latin typeface="Segoe UI"/>
              </a:rPr>
              <a:t> + salt, mai MD5/SHA-1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76472"/>
            <a:ext cx="5532120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86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5601A"/>
                </a:solidFill>
                <a:latin typeface="Segoe UI Semibold"/>
              </a:rPr>
              <a:t>(d) DLT &amp; post-quantum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15384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DLT: immutabilità (hash-chain), decentralizzazione, consenso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>
                <a:solidFill>
                  <a:srgbClr val="4C5751"/>
                </a:solidFill>
                <a:latin typeface="Segoe UI"/>
              </a:rPr>
              <a:t>•  </a:t>
            </a:r>
            <a:r>
              <a:rPr sz="1050">
                <a:solidFill>
                  <a:srgbClr val="161D1A"/>
                </a:solidFill>
                <a:latin typeface="Segoe UI"/>
              </a:rPr>
              <a:t>Shor rompe RSA/ECC → </a:t>
            </a:r>
            <a:r>
              <a:rPr b="1" sz="1050">
                <a:solidFill>
                  <a:srgbClr val="161D1A"/>
                </a:solidFill>
                <a:latin typeface="Segoe UI"/>
              </a:rPr>
              <a:t>ML-KEM/ML-DSA</a:t>
            </a:r>
            <a:r>
              <a:rPr sz="1050">
                <a:solidFill>
                  <a:srgbClr val="161D1A"/>
                </a:solidFill>
                <a:latin typeface="Segoe UI"/>
              </a:rPr>
              <a:t>; AES resta robusto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E6E9F2"/>
          </a:solidFill>
          <a:ln w="9525">
            <a:solidFill>
              <a:srgbClr val="E6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3C4A6B"/>
                </a:solidFill>
                <a:latin typeface="Consolas"/>
              </a:rPr>
              <a:t>ESEMPIO NEL CONTESTO
</a:t>
            </a:r>
          </a:p>
          <a:p>
            <a:pPr>
              <a:lnSpc>
                <a:spcPct val="105000"/>
              </a:lnSpc>
            </a:pPr>
            <a:r>
              <a:rPr sz="1100">
                <a:solidFill>
                  <a:srgbClr val="161D1A"/>
                </a:solidFill>
                <a:latin typeface="Segoe UI"/>
              </a:rPr>
              <a:t>Comunicazioni e firma di un’istituzione finanziaria poggiano su queste primitive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5623560"/>
            <a:ext cx="5212080" cy="960120"/>
          </a:xfrm>
          <a:prstGeom prst="roundRect">
            <a:avLst>
              <a:gd name="adj" fmla="val 12000"/>
            </a:avLst>
          </a:prstGeom>
          <a:solidFill>
            <a:srgbClr val="F6E4DE"/>
          </a:solidFill>
          <a:ln w="9525">
            <a:solidFill>
              <a:srgbClr val="F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0" tIns="91440" bIns="0" wrap="square"/>
          <a:lstStyle/>
          <a:p>
            <a:pPr algn="ctr"/>
            <a:r>
              <a:rPr sz="900" b="1">
                <a:solidFill>
                  <a:srgbClr val="A13D29"/>
                </a:solidFill>
                <a:latin typeface="Consolas"/>
              </a:rPr>
              <a:t>RISCHI RESIDUI
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161D1A"/>
                </a:solidFill>
                <a:latin typeface="Segoe UI"/>
              </a:rPr>
              <a:t>gestione chiavi  ·  algoritmi obsoleti  ·  certificati scaduti  ·  harvest now, decrypt later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B0A6"/>
                </a:solidFill>
                <a:latin typeface="Consolas"/>
              </a:rPr>
              <a:t>PRIMA DI CHIUDERE IL RIPASSO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2F5F3"/>
                </a:solidFill>
                <a:latin typeface="Segoe UI Semibold"/>
              </a:rPr>
              <a:t>Promemoria per la prova scritta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18221E"/>
          </a:solidFill>
          <a:ln w="9525">
            <a:solidFill>
              <a:srgbClr val="2A3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1343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C6AC"/>
                </a:solidFill>
                <a:latin typeface="Segoe UI Semibold"/>
              </a:rPr>
              <a:t>Metodo PEEL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15768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7D3CD"/>
                </a:solidFill>
                <a:latin typeface="Segoe UI"/>
              </a:rPr>
              <a:t>Impostazione → sviluppo tecnico (a)–(d) → esempio nel contesto BdI → rischi residui. Conta l’impianto, non il testo a memoria.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18221E"/>
          </a:solidFill>
          <a:ln w="9525">
            <a:solidFill>
              <a:srgbClr val="2A3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1343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C6AC"/>
                </a:solidFill>
                <a:latin typeface="Segoe UI Semibold"/>
              </a:rPr>
              <a:t>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15768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7D3CD"/>
                </a:solidFill>
                <a:latin typeface="Segoe UI"/>
              </a:rPr>
              <a:t>Allenati a scrivere a mano e a tempo, ≈2h per quesito, per abituarti al ritmo della prova reale.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18221E"/>
          </a:solidFill>
          <a:ln w="9525">
            <a:solidFill>
              <a:srgbClr val="2A3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42231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C6AC"/>
                </a:solidFill>
                <a:latin typeface="Segoe UI Semibold"/>
              </a:rPr>
              <a:t>Elaborato in inglese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44567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7D3CD"/>
                </a:solidFill>
                <a:latin typeface="Segoe UI"/>
              </a:rPr>
              <a:t>La prova prevede una parte in lingua inglese: esercitati a scrivere autonomamente in inglese almeno uno svolgimento.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77639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18221E"/>
          </a:solidFill>
          <a:ln w="9525">
            <a:solidFill>
              <a:srgbClr val="2A3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42231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C6AC"/>
                </a:solidFill>
                <a:latin typeface="Segoe UI Semibold"/>
              </a:rPr>
              <a:t>Standard da citare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44567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7D3CD"/>
                </a:solidFill>
                <a:latin typeface="Segoe UI"/>
              </a:rPr>
              <a:t>ISO/IEC 27001, ITIL, DORA, GDPR, TIBER-EU, AI Act, NIST — collega sempre le risposte al riferimento normativo pertinente.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